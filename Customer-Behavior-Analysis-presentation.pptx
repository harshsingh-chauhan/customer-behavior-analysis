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DM Sans Medium"/>
      <p:regular r:id="rId17"/>
    </p:embeddedFont>
    <p:embeddedFont>
      <p:font typeface="DM Sans Medium"/>
      <p:regular r:id="rId18"/>
    </p:embeddedFont>
    <p:embeddedFont>
      <p:font typeface="DM Sans Medium"/>
      <p:regular r:id="rId19"/>
    </p:embeddedFont>
    <p:embeddedFont>
      <p:font typeface="DM Sans Medium"/>
      <p:regular r:id="rId20"/>
    </p:embeddedFont>
    <p:embeddedFont>
      <p:font typeface="Inter"/>
      <p:regular r:id="rId21"/>
    </p:embeddedFont>
    <p:embeddedFont>
      <p:font typeface="Inter"/>
      <p:regular r:id="rId22"/>
    </p:embeddedFont>
    <p:embeddedFont>
      <p:font typeface="Inter"/>
      <p:regular r:id="rId23"/>
    </p:embeddedFont>
    <p:embeddedFont>
      <p:font typeface="Inter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51007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267795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Uncovering spending patterns, customer segments, product preferences, and subscription behavior from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3,900 transactions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across multiple product categories — to guide strategic business decisions.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4282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Dataset at a Glance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918579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3,900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1455420" y="395037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Transactions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235893" y="2918579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18</a:t>
            </a:r>
            <a:endParaRPr lang="en-US" sz="5850" dirty="0"/>
          </a:p>
        </p:txBody>
      </p:sp>
      <p:sp>
        <p:nvSpPr>
          <p:cNvPr id="6" name="Text 4"/>
          <p:cNvSpPr/>
          <p:nvPr/>
        </p:nvSpPr>
        <p:spPr>
          <a:xfrm>
            <a:off x="5897523" y="395037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Features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77995" y="2918579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37</a:t>
            </a:r>
            <a:endParaRPr lang="en-US" sz="5850" dirty="0"/>
          </a:p>
        </p:txBody>
      </p:sp>
      <p:sp>
        <p:nvSpPr>
          <p:cNvPr id="8" name="Text 6"/>
          <p:cNvSpPr/>
          <p:nvPr/>
        </p:nvSpPr>
        <p:spPr>
          <a:xfrm>
            <a:off x="10339626" y="395037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Missing Ratings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93790" y="46448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Key Data Dimensions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93790" y="5339358"/>
            <a:ext cx="13042821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Demographics: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Age, Gender, Location, Subscription Status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Purchase Details: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Item, Category, Amount, Season, Size, Color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Behavior: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Discounts, Promo Codes, Purchase Frequency, Review Rating, Shipping Type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43744" y="720447"/>
            <a:ext cx="5936456" cy="586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Data Preparation in Python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143744" y="1540669"/>
            <a:ext cx="375642" cy="2347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01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143744" y="1837015"/>
            <a:ext cx="7829312" cy="22860"/>
          </a:xfrm>
          <a:prstGeom prst="rect">
            <a:avLst/>
          </a:prstGeom>
          <a:solidFill>
            <a:srgbClr val="28282F"/>
          </a:solidFill>
          <a:ln/>
        </p:spPr>
      </p:sp>
      <p:sp>
        <p:nvSpPr>
          <p:cNvPr id="6" name="Text 3"/>
          <p:cNvSpPr/>
          <p:nvPr/>
        </p:nvSpPr>
        <p:spPr>
          <a:xfrm>
            <a:off x="6143744" y="1976557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Load &amp; Explore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143744" y="2363272"/>
            <a:ext cx="7829312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Imported dataset with </a:t>
            </a:r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161613"/>
                </a:solidFill>
                <a:highlight>
                  <a:srgbClr val="ECEB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; used </a:t>
            </a:r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161613"/>
                </a:solidFill>
                <a:highlight>
                  <a:srgbClr val="ECEB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161613"/>
                </a:solidFill>
                <a:highlight>
                  <a:srgbClr val="ECEB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.describe()</a:t>
            </a:r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structure and statistics.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143744" y="2934295"/>
            <a:ext cx="375642" cy="2347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02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143744" y="3230642"/>
            <a:ext cx="7829312" cy="22860"/>
          </a:xfrm>
          <a:prstGeom prst="rect">
            <a:avLst/>
          </a:prstGeom>
          <a:solidFill>
            <a:srgbClr val="28282F"/>
          </a:solidFill>
          <a:ln/>
        </p:spPr>
      </p:sp>
      <p:sp>
        <p:nvSpPr>
          <p:cNvPr id="10" name="Text 7"/>
          <p:cNvSpPr/>
          <p:nvPr/>
        </p:nvSpPr>
        <p:spPr>
          <a:xfrm>
            <a:off x="6143744" y="3370183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Clean &amp; Standardize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143744" y="3756898"/>
            <a:ext cx="7829312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Imputed missing Review Ratings with category median; renamed columns to snake_case.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143744" y="4602599"/>
            <a:ext cx="375642" cy="2347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143744" y="4898946"/>
            <a:ext cx="7829312" cy="22860"/>
          </a:xfrm>
          <a:prstGeom prst="rect">
            <a:avLst/>
          </a:prstGeom>
          <a:solidFill>
            <a:srgbClr val="28282F"/>
          </a:solidFill>
          <a:ln/>
        </p:spPr>
      </p:sp>
      <p:sp>
        <p:nvSpPr>
          <p:cNvPr id="14" name="Text 11"/>
          <p:cNvSpPr/>
          <p:nvPr/>
        </p:nvSpPr>
        <p:spPr>
          <a:xfrm>
            <a:off x="6143744" y="5038487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Feature Engineering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143744" y="5425202"/>
            <a:ext cx="7829312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Created </a:t>
            </a:r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161613"/>
                </a:solidFill>
                <a:highlight>
                  <a:srgbClr val="ECEB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161613"/>
                </a:solidFill>
                <a:highlight>
                  <a:srgbClr val="ECEB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columns; dropped redundant </a:t>
            </a:r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161613"/>
                </a:solidFill>
                <a:highlight>
                  <a:srgbClr val="ECEB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promo_code_used</a:t>
            </a:r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143744" y="6270903"/>
            <a:ext cx="375642" cy="2347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04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6143744" y="6567249"/>
            <a:ext cx="7829312" cy="22860"/>
          </a:xfrm>
          <a:prstGeom prst="rect">
            <a:avLst/>
          </a:prstGeom>
          <a:solidFill>
            <a:srgbClr val="28282F"/>
          </a:solidFill>
          <a:ln/>
        </p:spPr>
      </p:sp>
      <p:sp>
        <p:nvSpPr>
          <p:cNvPr id="18" name="Text 15"/>
          <p:cNvSpPr/>
          <p:nvPr/>
        </p:nvSpPr>
        <p:spPr>
          <a:xfrm>
            <a:off x="6143744" y="6706791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Database Integration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143744" y="7093506"/>
            <a:ext cx="7829312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Loaded cleaned DataFrame into PostgreSQL for structured SQL analysis.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86627"/>
            <a:ext cx="770917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Revenue &amp; Spending Insights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890718"/>
            <a:ext cx="6244709" cy="36934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99521" y="28623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Key Findings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599521" y="3443526"/>
            <a:ext cx="6244709" cy="2336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Male customers generated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$157,890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vs. female customers'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$75,191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total revenue.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839 customers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used discounts yet still spent above the average purchase amount.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 shipping users averaged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$60.48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vs. Standard at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$58.46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slightly higher spend.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41978"/>
            <a:ext cx="605075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Revenue by Age Group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846070"/>
            <a:ext cx="6244709" cy="36934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99521" y="28177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Age-Driven Revenue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599521" y="3398877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Young Adults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lead with $62,143 in total revenue, followed closely by Middle-aged customers at $59,197. Revenue is relatively balanced across all age groups, suggesting broad market appeal.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7599521" y="5105638"/>
            <a:ext cx="6244709" cy="1326713"/>
          </a:xfrm>
          <a:prstGeom prst="roundRect">
            <a:avLst>
              <a:gd name="adj" fmla="val 2565"/>
            </a:avLst>
          </a:prstGeom>
          <a:solidFill>
            <a:srgbClr val="B6D6F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6335" y="5449729"/>
            <a:ext cx="283488" cy="22681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336637" y="5389126"/>
            <a:ext cx="528077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Young Adults and Middle-aged customers together account for over 52% of total revenue.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85969"/>
            <a:ext cx="570380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Product Performance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61724"/>
            <a:ext cx="332482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Top 5 Products by Rating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93790" y="2971205"/>
            <a:ext cx="6244709" cy="3917156"/>
          </a:xfrm>
          <a:prstGeom prst="roundRect">
            <a:avLst>
              <a:gd name="adj" fmla="val 86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2978825"/>
            <a:ext cx="6229469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28343" y="3122533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4146828" y="3122533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Rating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801410" y="3629144"/>
            <a:ext cx="6229469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28343" y="3772852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Gloves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4146828" y="3772852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3.86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801410" y="4279463"/>
            <a:ext cx="6229469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28343" y="4423172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Sandals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4146828" y="4423172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3.84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801410" y="4929783"/>
            <a:ext cx="6229469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28343" y="5073491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Boots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4146828" y="5073491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3.82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801410" y="5580102"/>
            <a:ext cx="6229469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28343" y="5723811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Hat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4146828" y="5723811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3.80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801410" y="6230422"/>
            <a:ext cx="6229469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28343" y="6374130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Skirt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4146828" y="6374130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3.78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7599521" y="2361724"/>
            <a:ext cx="48677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Most Discount-Dependent Products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7599521" y="2971205"/>
            <a:ext cx="6244709" cy="3917156"/>
          </a:xfrm>
          <a:prstGeom prst="roundRect">
            <a:avLst>
              <a:gd name="adj" fmla="val 86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07141" y="2978825"/>
            <a:ext cx="6229469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7834074" y="3122533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10952559" y="3122533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Discount Rate</a:t>
            </a:r>
            <a:endParaRPr lang="en-US" sz="1750" dirty="0"/>
          </a:p>
        </p:txBody>
      </p:sp>
      <p:sp>
        <p:nvSpPr>
          <p:cNvPr id="28" name="Shape 26"/>
          <p:cNvSpPr/>
          <p:nvPr/>
        </p:nvSpPr>
        <p:spPr>
          <a:xfrm>
            <a:off x="7607141" y="3629144"/>
            <a:ext cx="6229469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7834074" y="3772852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Hat</a:t>
            </a:r>
            <a:endParaRPr lang="en-US" sz="1750" dirty="0"/>
          </a:p>
        </p:txBody>
      </p:sp>
      <p:sp>
        <p:nvSpPr>
          <p:cNvPr id="30" name="Text 28"/>
          <p:cNvSpPr/>
          <p:nvPr/>
        </p:nvSpPr>
        <p:spPr>
          <a:xfrm>
            <a:off x="10952559" y="3772852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50.00%</a:t>
            </a:r>
            <a:endParaRPr lang="en-US" sz="1750" dirty="0"/>
          </a:p>
        </p:txBody>
      </p:sp>
      <p:sp>
        <p:nvSpPr>
          <p:cNvPr id="31" name="Shape 29"/>
          <p:cNvSpPr/>
          <p:nvPr/>
        </p:nvSpPr>
        <p:spPr>
          <a:xfrm>
            <a:off x="7607141" y="4279463"/>
            <a:ext cx="6229469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7834074" y="4423172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Sneakers</a:t>
            </a:r>
            <a:endParaRPr lang="en-US" sz="1750" dirty="0"/>
          </a:p>
        </p:txBody>
      </p:sp>
      <p:sp>
        <p:nvSpPr>
          <p:cNvPr id="33" name="Text 31"/>
          <p:cNvSpPr/>
          <p:nvPr/>
        </p:nvSpPr>
        <p:spPr>
          <a:xfrm>
            <a:off x="10952559" y="4423172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49.66%</a:t>
            </a:r>
            <a:endParaRPr lang="en-US" sz="1750" dirty="0"/>
          </a:p>
        </p:txBody>
      </p:sp>
      <p:sp>
        <p:nvSpPr>
          <p:cNvPr id="34" name="Shape 32"/>
          <p:cNvSpPr/>
          <p:nvPr/>
        </p:nvSpPr>
        <p:spPr>
          <a:xfrm>
            <a:off x="7607141" y="4929783"/>
            <a:ext cx="6229469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7834074" y="5073491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Coat</a:t>
            </a:r>
            <a:endParaRPr lang="en-US" sz="1750" dirty="0"/>
          </a:p>
        </p:txBody>
      </p:sp>
      <p:sp>
        <p:nvSpPr>
          <p:cNvPr id="36" name="Text 34"/>
          <p:cNvSpPr/>
          <p:nvPr/>
        </p:nvSpPr>
        <p:spPr>
          <a:xfrm>
            <a:off x="10952559" y="5073491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49.07%</a:t>
            </a:r>
            <a:endParaRPr lang="en-US" sz="1750" dirty="0"/>
          </a:p>
        </p:txBody>
      </p:sp>
      <p:sp>
        <p:nvSpPr>
          <p:cNvPr id="37" name="Shape 35"/>
          <p:cNvSpPr/>
          <p:nvPr/>
        </p:nvSpPr>
        <p:spPr>
          <a:xfrm>
            <a:off x="7607141" y="5580102"/>
            <a:ext cx="6229469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7834074" y="5723811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Sweater</a:t>
            </a:r>
            <a:endParaRPr lang="en-US" sz="1750" dirty="0"/>
          </a:p>
        </p:txBody>
      </p:sp>
      <p:sp>
        <p:nvSpPr>
          <p:cNvPr id="39" name="Text 37"/>
          <p:cNvSpPr/>
          <p:nvPr/>
        </p:nvSpPr>
        <p:spPr>
          <a:xfrm>
            <a:off x="10952559" y="5723811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48.17%</a:t>
            </a:r>
            <a:endParaRPr lang="en-US" sz="1750" dirty="0"/>
          </a:p>
        </p:txBody>
      </p:sp>
      <p:sp>
        <p:nvSpPr>
          <p:cNvPr id="40" name="Shape 38"/>
          <p:cNvSpPr/>
          <p:nvPr/>
        </p:nvSpPr>
        <p:spPr>
          <a:xfrm>
            <a:off x="7607141" y="6230422"/>
            <a:ext cx="6229469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7834074" y="6374130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Pants</a:t>
            </a:r>
            <a:endParaRPr lang="en-US" sz="1750" dirty="0"/>
          </a:p>
        </p:txBody>
      </p:sp>
      <p:sp>
        <p:nvSpPr>
          <p:cNvPr id="42" name="Text 40"/>
          <p:cNvSpPr/>
          <p:nvPr/>
        </p:nvSpPr>
        <p:spPr>
          <a:xfrm>
            <a:off x="10952559" y="6374130"/>
            <a:ext cx="265723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47.37%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86627"/>
            <a:ext cx="652653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Customer Segmentation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966918"/>
            <a:ext cx="6244709" cy="361735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236250" y="4416504"/>
            <a:ext cx="806648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9590" y="4453057"/>
            <a:ext cx="91440" cy="914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07700" y="4439364"/>
            <a:ext cx="578048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161613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Loyal·79.9%</a:t>
            </a:r>
            <a:endParaRPr lang="en-US" sz="700" dirty="0"/>
          </a:p>
        </p:txBody>
      </p:sp>
      <p:sp>
        <p:nvSpPr>
          <p:cNvPr id="7" name="Text 3"/>
          <p:cNvSpPr/>
          <p:nvPr/>
        </p:nvSpPr>
        <p:spPr>
          <a:xfrm>
            <a:off x="5630704" y="4439364"/>
            <a:ext cx="355044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161613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·79.9%</a:t>
            </a:r>
            <a:endParaRPr lang="en-US" sz="700" dirty="0"/>
          </a:p>
        </p:txBody>
      </p:sp>
      <p:sp>
        <p:nvSpPr>
          <p:cNvPr id="8" name="Text 4"/>
          <p:cNvSpPr/>
          <p:nvPr/>
        </p:nvSpPr>
        <p:spPr>
          <a:xfrm>
            <a:off x="5667256" y="4439364"/>
            <a:ext cx="24527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161613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5236250" y="4642009"/>
            <a:ext cx="1064657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9590" y="4678561"/>
            <a:ext cx="91440" cy="914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07700" y="4664869"/>
            <a:ext cx="836057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161613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Returning·17.97%</a:t>
            </a:r>
            <a:endParaRPr lang="en-US" sz="700" dirty="0"/>
          </a:p>
        </p:txBody>
      </p:sp>
      <p:sp>
        <p:nvSpPr>
          <p:cNvPr id="12" name="Text 7"/>
          <p:cNvSpPr/>
          <p:nvPr/>
        </p:nvSpPr>
        <p:spPr>
          <a:xfrm>
            <a:off x="5836325" y="4664869"/>
            <a:ext cx="407432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161613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·17.97%</a:t>
            </a:r>
            <a:endParaRPr lang="en-US" sz="700" dirty="0"/>
          </a:p>
        </p:txBody>
      </p:sp>
      <p:sp>
        <p:nvSpPr>
          <p:cNvPr id="13" name="Text 8"/>
          <p:cNvSpPr/>
          <p:nvPr/>
        </p:nvSpPr>
        <p:spPr>
          <a:xfrm>
            <a:off x="5872877" y="4664869"/>
            <a:ext cx="24527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161613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sp>
        <p:nvSpPr>
          <p:cNvPr id="14" name="Shape 9"/>
          <p:cNvSpPr/>
          <p:nvPr/>
        </p:nvSpPr>
        <p:spPr>
          <a:xfrm>
            <a:off x="5236250" y="4867513"/>
            <a:ext cx="774859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9590" y="4904065"/>
            <a:ext cx="91440" cy="914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407700" y="4890373"/>
            <a:ext cx="546259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161613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New·2.13%</a:t>
            </a:r>
            <a:endParaRPr lang="en-US" sz="700" dirty="0"/>
          </a:p>
        </p:txBody>
      </p:sp>
      <p:sp>
        <p:nvSpPr>
          <p:cNvPr id="17" name="Text 11"/>
          <p:cNvSpPr/>
          <p:nvPr/>
        </p:nvSpPr>
        <p:spPr>
          <a:xfrm>
            <a:off x="5598914" y="4890373"/>
            <a:ext cx="355044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161613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·2.13%</a:t>
            </a:r>
            <a:endParaRPr lang="en-US" sz="700" dirty="0"/>
          </a:p>
        </p:txBody>
      </p:sp>
      <p:sp>
        <p:nvSpPr>
          <p:cNvPr id="18" name="Text 12"/>
          <p:cNvSpPr/>
          <p:nvPr/>
        </p:nvSpPr>
        <p:spPr>
          <a:xfrm>
            <a:off x="5635466" y="4890373"/>
            <a:ext cx="24527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161613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sp>
        <p:nvSpPr>
          <p:cNvPr id="19" name="Text 13"/>
          <p:cNvSpPr/>
          <p:nvPr/>
        </p:nvSpPr>
        <p:spPr>
          <a:xfrm>
            <a:off x="7599521" y="28623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Segment Breakdown</a:t>
            </a:r>
            <a:endParaRPr lang="en-US" sz="2200" dirty="0"/>
          </a:p>
        </p:txBody>
      </p:sp>
      <p:sp>
        <p:nvSpPr>
          <p:cNvPr id="20" name="Text 14"/>
          <p:cNvSpPr/>
          <p:nvPr/>
        </p:nvSpPr>
        <p:spPr>
          <a:xfrm>
            <a:off x="7599521" y="3443526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vast majority of customers —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3,116 (80%)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are classified as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Loyal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with 701 Returning and only 83 New customers.</a:t>
            </a:r>
            <a:endParaRPr lang="en-US" sz="1750" dirty="0"/>
          </a:p>
        </p:txBody>
      </p:sp>
      <p:sp>
        <p:nvSpPr>
          <p:cNvPr id="21" name="Text 15"/>
          <p:cNvSpPr/>
          <p:nvPr/>
        </p:nvSpPr>
        <p:spPr>
          <a:xfrm>
            <a:off x="7599521" y="4759047"/>
            <a:ext cx="411908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Repeat Buyers &amp; Subscriptions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7599521" y="5340191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Among customers with more than 5 purchases: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2,518 are non-subscribers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958 are subscribers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indicating a significant opportunity to convert repeat buyers.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6642" y="628412"/>
            <a:ext cx="8494395" cy="67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Subscription &amp; Category Analysis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756642" y="1819156"/>
            <a:ext cx="4181713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Subscribers vs. Non-Subscribers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56642" y="2388751"/>
            <a:ext cx="6294834" cy="3182183"/>
          </a:xfrm>
          <a:prstGeom prst="roundRect">
            <a:avLst>
              <a:gd name="adj" fmla="val 101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0599" y="2527578"/>
            <a:ext cx="113383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554248" y="2527578"/>
            <a:ext cx="1130022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124087" y="2527578"/>
            <a:ext cx="1130022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Spend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693926" y="2527578"/>
            <a:ext cx="1133832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b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Revenue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80599" y="3473172"/>
            <a:ext cx="1133832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Subscribers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554248" y="3473172"/>
            <a:ext cx="113002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1,053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124087" y="3473172"/>
            <a:ext cx="113002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$59.49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693926" y="3473172"/>
            <a:ext cx="113383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$62,645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80599" y="4418767"/>
            <a:ext cx="1133832" cy="1013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Non-Subscribers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554248" y="4418767"/>
            <a:ext cx="113002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2,847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124087" y="4418767"/>
            <a:ext cx="113002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$59.87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693926" y="4418767"/>
            <a:ext cx="113383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$170,436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56642" y="5802749"/>
            <a:ext cx="6294834" cy="1566624"/>
          </a:xfrm>
          <a:prstGeom prst="roundRect">
            <a:avLst>
              <a:gd name="adj" fmla="val 2070"/>
            </a:avLst>
          </a:prstGeom>
          <a:solidFill>
            <a:srgbClr val="D6D6DC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741" y="6127433"/>
            <a:ext cx="270153" cy="21609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458992" y="6062663"/>
            <a:ext cx="5376386" cy="1013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spend is nearly identical — subscription status does not significantly affect individual purchase size.</a:t>
            </a:r>
            <a:endParaRPr lang="en-US" sz="17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6543" y="1844993"/>
            <a:ext cx="6294834" cy="352841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6014" y="476964"/>
            <a:ext cx="7844433" cy="439304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46014" y="5061347"/>
            <a:ext cx="4252913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Power BI Dashboard</a:t>
            </a:r>
            <a:endParaRPr lang="en-US" sz="3300" dirty="0"/>
          </a:p>
        </p:txBody>
      </p:sp>
      <p:sp>
        <p:nvSpPr>
          <p:cNvPr id="4" name="Shape 1"/>
          <p:cNvSpPr/>
          <p:nvPr/>
        </p:nvSpPr>
        <p:spPr>
          <a:xfrm>
            <a:off x="1446014" y="5784294"/>
            <a:ext cx="5805368" cy="920353"/>
          </a:xfrm>
          <a:prstGeom prst="roundRect">
            <a:avLst>
              <a:gd name="adj" fmla="val 2773"/>
            </a:avLst>
          </a:prstGeom>
          <a:solidFill>
            <a:srgbClr val="EDEBE3"/>
          </a:solidFill>
          <a:ln/>
        </p:spPr>
      </p:sp>
      <p:sp>
        <p:nvSpPr>
          <p:cNvPr id="5" name="Text 2"/>
          <p:cNvSpPr/>
          <p:nvPr/>
        </p:nvSpPr>
        <p:spPr>
          <a:xfrm>
            <a:off x="1616035" y="5954316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3.9K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616035" y="6296501"/>
            <a:ext cx="5465326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Customers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378898" y="5784294"/>
            <a:ext cx="5805368" cy="920353"/>
          </a:xfrm>
          <a:prstGeom prst="roundRect">
            <a:avLst>
              <a:gd name="adj" fmla="val 2773"/>
            </a:avLst>
          </a:prstGeom>
          <a:solidFill>
            <a:srgbClr val="EDEBE3"/>
          </a:solidFill>
          <a:ln/>
        </p:spPr>
      </p:sp>
      <p:sp>
        <p:nvSpPr>
          <p:cNvPr id="8" name="Text 5"/>
          <p:cNvSpPr/>
          <p:nvPr/>
        </p:nvSpPr>
        <p:spPr>
          <a:xfrm>
            <a:off x="7548920" y="5954316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$59.76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548920" y="6296501"/>
            <a:ext cx="5465326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Purchase Amount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446014" y="6832163"/>
            <a:ext cx="5805368" cy="920353"/>
          </a:xfrm>
          <a:prstGeom prst="roundRect">
            <a:avLst>
              <a:gd name="adj" fmla="val 2773"/>
            </a:avLst>
          </a:prstGeom>
          <a:solidFill>
            <a:srgbClr val="EDEBE3"/>
          </a:solidFill>
          <a:ln/>
        </p:spPr>
      </p:sp>
      <p:sp>
        <p:nvSpPr>
          <p:cNvPr id="11" name="Text 8"/>
          <p:cNvSpPr/>
          <p:nvPr/>
        </p:nvSpPr>
        <p:spPr>
          <a:xfrm>
            <a:off x="1616035" y="7002185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3.75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1616035" y="7344370"/>
            <a:ext cx="5465326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Review Rating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378898" y="6832163"/>
            <a:ext cx="5805368" cy="920353"/>
          </a:xfrm>
          <a:prstGeom prst="roundRect">
            <a:avLst>
              <a:gd name="adj" fmla="val 2773"/>
            </a:avLst>
          </a:prstGeom>
          <a:solidFill>
            <a:srgbClr val="EDEBE3"/>
          </a:solidFill>
          <a:ln/>
        </p:spPr>
      </p:sp>
      <p:sp>
        <p:nvSpPr>
          <p:cNvPr id="14" name="Text 11"/>
          <p:cNvSpPr/>
          <p:nvPr/>
        </p:nvSpPr>
        <p:spPr>
          <a:xfrm>
            <a:off x="7548920" y="7002185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27% Yes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7548920" y="7344370"/>
            <a:ext cx="5465326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3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Subscription Rate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6993" y="578882"/>
            <a:ext cx="6694051" cy="631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Business Recommendations</a:t>
            </a:r>
            <a:endParaRPr lang="en-US" sz="3950" dirty="0"/>
          </a:p>
        </p:txBody>
      </p:sp>
      <p:sp>
        <p:nvSpPr>
          <p:cNvPr id="4" name="Shape 1"/>
          <p:cNvSpPr/>
          <p:nvPr/>
        </p:nvSpPr>
        <p:spPr>
          <a:xfrm>
            <a:off x="706993" y="1479947"/>
            <a:ext cx="7730014" cy="1178600"/>
          </a:xfrm>
          <a:prstGeom prst="roundRect">
            <a:avLst>
              <a:gd name="adj" fmla="val 9310"/>
            </a:avLst>
          </a:prstGeom>
          <a:solidFill>
            <a:srgbClr val="F9F8F5"/>
          </a:solidFill>
          <a:ln w="22860">
            <a:solidFill>
              <a:srgbClr val="D3D1C9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84133" y="1479947"/>
            <a:ext cx="91440" cy="1178600"/>
          </a:xfrm>
          <a:prstGeom prst="roundRect">
            <a:avLst>
              <a:gd name="adj" fmla="val 33140"/>
            </a:avLst>
          </a:prstGeom>
          <a:solidFill>
            <a:srgbClr val="28282F"/>
          </a:solidFill>
          <a:ln/>
        </p:spPr>
      </p:sp>
      <p:sp>
        <p:nvSpPr>
          <p:cNvPr id="6" name="Text 3"/>
          <p:cNvSpPr/>
          <p:nvPr/>
        </p:nvSpPr>
        <p:spPr>
          <a:xfrm>
            <a:off x="1000363" y="1704737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Boost Subscriptions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000363" y="2128242"/>
            <a:ext cx="7211854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Promote exclusive benefits to convert the 73% of non-subscribers.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706993" y="2838450"/>
            <a:ext cx="7730014" cy="1484114"/>
          </a:xfrm>
          <a:prstGeom prst="roundRect">
            <a:avLst>
              <a:gd name="adj" fmla="val 7394"/>
            </a:avLst>
          </a:prstGeom>
          <a:solidFill>
            <a:srgbClr val="F9F8F5"/>
          </a:solidFill>
          <a:ln w="22860">
            <a:solidFill>
              <a:srgbClr val="D3D1C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4133" y="2838450"/>
            <a:ext cx="91440" cy="1484114"/>
          </a:xfrm>
          <a:prstGeom prst="roundRect">
            <a:avLst>
              <a:gd name="adj" fmla="val 33140"/>
            </a:avLst>
          </a:prstGeom>
          <a:solidFill>
            <a:srgbClr val="28282F"/>
          </a:solidFill>
          <a:ln/>
        </p:spPr>
      </p:sp>
      <p:sp>
        <p:nvSpPr>
          <p:cNvPr id="10" name="Text 7"/>
          <p:cNvSpPr/>
          <p:nvPr/>
        </p:nvSpPr>
        <p:spPr>
          <a:xfrm>
            <a:off x="1000363" y="3063240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Loyalty Programs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1000363" y="3486745"/>
            <a:ext cx="7211854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Reward repeat buyers to deepen engagement and move them into the Loyal segment.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706993" y="4502468"/>
            <a:ext cx="7730014" cy="1484114"/>
          </a:xfrm>
          <a:prstGeom prst="roundRect">
            <a:avLst>
              <a:gd name="adj" fmla="val 7394"/>
            </a:avLst>
          </a:prstGeom>
          <a:solidFill>
            <a:srgbClr val="F9F8F5"/>
          </a:solidFill>
          <a:ln w="22860">
            <a:solidFill>
              <a:srgbClr val="D3D1C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4133" y="4502468"/>
            <a:ext cx="91440" cy="1484114"/>
          </a:xfrm>
          <a:prstGeom prst="roundRect">
            <a:avLst>
              <a:gd name="adj" fmla="val 33140"/>
            </a:avLst>
          </a:prstGeom>
          <a:solidFill>
            <a:srgbClr val="28282F"/>
          </a:solidFill>
          <a:ln/>
        </p:spPr>
      </p:sp>
      <p:sp>
        <p:nvSpPr>
          <p:cNvPr id="14" name="Text 11"/>
          <p:cNvSpPr/>
          <p:nvPr/>
        </p:nvSpPr>
        <p:spPr>
          <a:xfrm>
            <a:off x="1000363" y="4727257"/>
            <a:ext cx="2724864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Review Discount Policy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1000363" y="5150763"/>
            <a:ext cx="7211854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 sales boosts with margin control — especially for high-discount items like Hats and Sneakers.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706993" y="6166485"/>
            <a:ext cx="7730014" cy="1484114"/>
          </a:xfrm>
          <a:prstGeom prst="roundRect">
            <a:avLst>
              <a:gd name="adj" fmla="val 7394"/>
            </a:avLst>
          </a:prstGeom>
          <a:solidFill>
            <a:srgbClr val="F9F8F5"/>
          </a:solidFill>
          <a:ln w="22860">
            <a:solidFill>
              <a:srgbClr val="D3D1C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84133" y="6166485"/>
            <a:ext cx="91440" cy="1484114"/>
          </a:xfrm>
          <a:prstGeom prst="roundRect">
            <a:avLst>
              <a:gd name="adj" fmla="val 33140"/>
            </a:avLst>
          </a:prstGeom>
          <a:solidFill>
            <a:srgbClr val="28282F"/>
          </a:solidFill>
          <a:ln/>
        </p:spPr>
      </p:sp>
      <p:sp>
        <p:nvSpPr>
          <p:cNvPr id="18" name="Text 15"/>
          <p:cNvSpPr/>
          <p:nvPr/>
        </p:nvSpPr>
        <p:spPr>
          <a:xfrm>
            <a:off x="1000363" y="6391275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Targeted Marketing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1000363" y="6814780"/>
            <a:ext cx="7211854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on Young Adults, high-revenue age groups, and express-shipping users for maximum ROI.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2026-05-03T06:38:43Z</dcterms:created>
  <dcterms:modified xsi:type="dcterms:W3CDTF">2026-05-03T06:38:43Z</dcterms:modified>
</cp:coreProperties>
</file>